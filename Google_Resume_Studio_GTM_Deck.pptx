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3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8803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AB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302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F636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Paid media</c:v>
                  </c:pt>
                  <c:pt idx="1">
                    <c:v>Brand &amp; launch</c:v>
                  </c:pt>
                  <c:pt idx="2">
                    <c:v>Creators</c:v>
                  </c:pt>
                  <c:pt idx="3">
                    <c:v>Partnerships &amp; campus</c:v>
                  </c:pt>
                  <c:pt idx="4">
                    <c:v>PR &amp; data reports</c:v>
                  </c:pt>
                  <c:pt idx="5">
                    <c:v>Research &amp; ops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2.5</c:v>
                </c:pt>
                <c:pt idx="2">
                  <c:v>1.5</c:v>
                </c:pt>
                <c:pt idx="3">
                  <c:v>1.2</c:v>
                </c:pt>
                <c:pt idx="4">
                  <c:v>0.8</c:v>
                </c:pt>
                <c:pt idx="5">
                  <c:v>1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0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1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Paying subscribers (thousands)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Paying subscribers (K)</c:v>
                </c:pt>
              </c:strCache>
            </c:strRef>
          </c:tx>
          <c:spPr>
            <a:solidFill>
              <a:srgbClr val="1A73E8"/>
            </a:solidFill>
            <a:ln w="38100" cap="flat">
              <a:solidFill>
                <a:srgbClr val="1A73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3E8"/>
              </a:solidFill>
              <a:ln w="9525" cap="flat">
                <a:solidFill>
                  <a:srgbClr val="1A73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14.6</c:v>
                </c:pt>
                <c:pt idx="2">
                  <c:v>25.6</c:v>
                </c:pt>
                <c:pt idx="3">
                  <c:v>37.3</c:v>
                </c:pt>
                <c:pt idx="4">
                  <c:v>49.7</c:v>
                </c:pt>
                <c:pt idx="5">
                  <c:v>62.7</c:v>
                </c:pt>
                <c:pt idx="6">
                  <c:v>74.8</c:v>
                </c:pt>
                <c:pt idx="7">
                  <c:v>84.6</c:v>
                </c:pt>
                <c:pt idx="8">
                  <c:v>95.1</c:v>
                </c:pt>
                <c:pt idx="9">
                  <c:v>108</c:v>
                </c:pt>
                <c:pt idx="10">
                  <c:v>121.4</c:v>
                </c:pt>
                <c:pt idx="11">
                  <c:v>132.4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Resume Studio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Strategy — Year 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qualified. Make sure the robots know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Harseet · PMM Portfolio Project · July 2026 · Fictional product — not affiliated with Google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uses AI to apply. Nobody trusts the output.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seekers need AI that beats the ATS without sounding like a bot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1F3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6479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$9.5B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62432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Resume-builder market, 2026 — AI segment growing ~20% CAGR (The Business Research Company)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600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1F3F4"/>
          </a:solidFill>
          <a:ln/>
        </p:spPr>
      </p:sp>
      <p:sp>
        <p:nvSpPr>
          <p:cNvPr id="8" name="Text 6"/>
          <p:cNvSpPr/>
          <p:nvPr/>
        </p:nvSpPr>
        <p:spPr>
          <a:xfrm>
            <a:off x="4453128" y="176479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31–65%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53128" y="262432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job seekers already use AI in applications (JobCannon 2026; CNBC 2025)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600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1F3F4"/>
          </a:solidFill>
          <a:ln/>
        </p:spPr>
      </p:sp>
      <p:sp>
        <p:nvSpPr>
          <p:cNvPr id="11" name="Text 9"/>
          <p:cNvSpPr/>
          <p:nvPr/>
        </p:nvSpPr>
        <p:spPr>
          <a:xfrm>
            <a:off x="8220456" y="176479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0456" y="262432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hiring managers penalize resumes that obviously sound AI-written — generic AI is now a liability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100816" cy="2377440"/>
          </a:xfrm>
          <a:prstGeom prst="roundRect">
            <a:avLst>
              <a:gd name="adj" fmla="val 3077"/>
            </a:avLst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77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charge $25–29/mo behind dark-pattern billing; ChatGPT is free but generic and increasingly flagged by recruiters. No player owns the "trusted default."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bet: 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wins it with Gemini quality, job-search distribution, the Docs/Drive ecosystem, and a radically honest free tier.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conservative Year-1 share despite Google-scale distribution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$9.5B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resume-builder market,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5968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25400">
            <a:solidFill>
              <a:srgbClr val="188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4568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~$1.2B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44568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consumer resume subscriptions, English-first markets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3296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25400">
            <a:solidFill>
              <a:srgbClr val="F9A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11896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311896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Year-1 exit ARR target (~1% of SAM)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 </a:t>
            </a:r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screening is universal, tailoring per application is table stakes, and AI-in-applications behavior went mainstream in 2025–26 while tooling stayed fragmented. Job search is already a Google behavior — hundreds of millions of job queries flow through Search monthly.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we're building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 drives volume and brand; Sam and Priya drive revenue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1F3F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New-Grad Nia · 22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to 100+ entry-level roles with zero budget and blank-page paralysis.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“Give me a credible first resume, fast.”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· campus &amp; creator channels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15968" y="164592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1F3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90288" y="1874520"/>
            <a:ext cx="502920" cy="50292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30368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Switcher Sam · 31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0288" y="26060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manager moving into tech; can't translate his experience into new-industry language.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90288" y="3886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“Reframe my story for a new field.”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0288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($5–10/mo, 2–3 months) · search &amp; TikTok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3296" y="164592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1F3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357616" y="1874520"/>
            <a:ext cx="502920" cy="502920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5761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97696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Laid-off Priya · 38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57616" y="26060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marketer, first search in 9 years, tailoring 10 applications a week.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57616" y="3886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“Tailor at volume without sounding like a bot.”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57616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annual · search, LinkedIn, PR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splits three ways — and leaves “trusted default” unclaimed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0816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3108960"/>
                <a:gridCol w="442569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Exploitable weakness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~$25.95 / 4 wks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 dominance, guided flow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930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download is stripped TXT; billing dark patterns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+ $29 / 30 days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free tier, job tracker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930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Power-user complexity, weak mainstream brand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Rezi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$29/mo · $149 lifetime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ATS scoring, strong AI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930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Niche brand; lifetime deal caps LTV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Kickresume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~$4.50/mo annual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Cheapest paid, templates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930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Thin AI differentiation, low US brand trust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$29.99/mo bundled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moat, distribution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930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Resume builder an afterthought; weak output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/ $20 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Ubiquity, flexibility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930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voice recruiters flag; no ATS check or tracking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Resumly, FastApply, BestJobSearchApps 2026 comparisons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 the trusted default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100816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job seekers who must beat automated screening, Resume Studio turns real experience into a recruiter-ready, ATS-proof resume in minutes — unlike chatbots that sound robotic or builders that trap you behind paywalls.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5413248" cy="1325880"/>
          </a:xfrm>
          <a:prstGeom prst="roundRect">
            <a:avLst>
              <a:gd name="adj" fmla="val 5517"/>
            </a:avLst>
          </a:prstGeom>
          <a:solidFill>
            <a:srgbClr val="F1F3F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3474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Sounds like you, not like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38862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Human-voice score directly counters the 57%-of-recruiters objection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3337560"/>
            <a:ext cx="5413248" cy="1325880"/>
          </a:xfrm>
          <a:prstGeom prst="roundRect">
            <a:avLst>
              <a:gd name="adj" fmla="val 5517"/>
            </a:avLst>
          </a:prstGeom>
          <a:solidFill>
            <a:srgbClr val="F1F3F4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3749040"/>
            <a:ext cx="457200" cy="45720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04888" y="3474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the bots, honestly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04888" y="38862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ATS compatibility + job-description match score per application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5413248" cy="1325880"/>
          </a:xfrm>
          <a:prstGeom prst="roundRect">
            <a:avLst>
              <a:gd name="adj" fmla="val 5517"/>
            </a:avLst>
          </a:prstGeom>
          <a:solidFill>
            <a:srgbClr val="F1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983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free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394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resumes, real PDF/DOCX export, no watermarks — a strike at bait pricing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6208" y="4846320"/>
            <a:ext cx="5413248" cy="1325880"/>
          </a:xfrm>
          <a:prstGeom prst="roundRect">
            <a:avLst>
              <a:gd name="adj" fmla="val 5517"/>
            </a:avLst>
          </a:prstGeom>
          <a:solidFill>
            <a:srgbClr val="F1F3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64808" y="5257800"/>
            <a:ext cx="457200" cy="45720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04888" y="4983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04888" y="5394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data never used for ads; export or delete anytime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narrative: “You're qualified. Make sure the robots know it.”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0816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3474720"/>
                <a:gridCol w="2596896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 — awareness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 — consideration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CTA — conversion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New-Grad Nia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“First resume, done before your coffee.”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forever · built by Google · campus stories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free with your Google account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Switcher Sam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“Your experience counts. Reframe it.”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Career-change rewrite engine · before/after · match score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your skills translated — free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Laid-off Priya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“Tailor 10 applications in the time one used to take.”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ATS pass-rate data · human-voice score · privacy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Pro $9.99/mo — cancel anytime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“Google takes on the resume-industrial complex.”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Free-tier generosity vs. incumbent dark patterns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briefings + data reports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discipline: never promise “get hired” — always promise “get seen.” Every claim must survive a recruiter's nod test.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1/3 of the incumbents, honest by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billing is a marketing weapon, not just policy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1F3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resumes · 3 templates · real PDF/DOCX export · basic ATS check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+ trust. Kills the bait-and-switch objection.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$9.99/mo · $59.99/yr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590288" y="31546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Tailoring engine · full templates · human-voice score · cover letters · interview prep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0288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monetization. Annual over-discounted to smooth the churn cliff when users get hired.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1F3F4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One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57616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357616" y="31546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features included in premium tiers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57616" y="4572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+ ecosystem lock-in (Year 2 lever).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$7.99 blended ARPU · 7% monthly churn · LTV $97 at 85% margin — clears 3x LTV:CAC at steady-state $30 CAC.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to late August — two weeks ahead of the September hiring surge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67128" cy="3291840"/>
          </a:xfrm>
          <a:prstGeom prst="roundRect">
            <a:avLst>
              <a:gd name="adj" fmla="val 3376"/>
            </a:avLst>
          </a:prstGeom>
          <a:solidFill>
            <a:srgbClr val="F1F3F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2128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T-16 → T-9 wks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Dogfood + 500 recruiters; tune human-voice score. Exit: ≥70% rate output human-written.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98648" y="2011680"/>
            <a:ext cx="2167128" cy="3291840"/>
          </a:xfrm>
          <a:prstGeom prst="roundRect">
            <a:avLst>
              <a:gd name="adj" fmla="val 3376"/>
            </a:avLst>
          </a:prstGeom>
          <a:solidFill>
            <a:srgbClr val="F1F3F4"/>
          </a:solidFill>
          <a:ln/>
        </p:spPr>
      </p:sp>
      <p:sp>
        <p:nvSpPr>
          <p:cNvPr id="11" name="Shape 9"/>
          <p:cNvSpPr/>
          <p:nvPr/>
        </p:nvSpPr>
        <p:spPr>
          <a:xfrm>
            <a:off x="3081528" y="2194560"/>
            <a:ext cx="411480" cy="411480"/>
          </a:xfrm>
          <a:prstGeom prst="ellipse">
            <a:avLst/>
          </a:prstGeom>
          <a:solidFill>
            <a:srgbClr val="188038"/>
          </a:solidFill>
          <a:ln/>
        </p:spPr>
      </p:sp>
      <p:sp>
        <p:nvSpPr>
          <p:cNvPr id="12" name="Text 10"/>
          <p:cNvSpPr/>
          <p:nvPr/>
        </p:nvSpPr>
        <p:spPr>
          <a:xfrm>
            <a:off x="3081528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84448" y="22128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beta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81528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T-8 → T-1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81528" y="31089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waitlist invites; instrument funnel. Exit: activation ≥50%, NPS ≥40.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48656" y="2011680"/>
            <a:ext cx="2167128" cy="3291840"/>
          </a:xfrm>
          <a:prstGeom prst="roundRect">
            <a:avLst>
              <a:gd name="adj" fmla="val 3376"/>
            </a:avLst>
          </a:prstGeom>
          <a:solidFill>
            <a:srgbClr val="F1F3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31536" y="2194560"/>
            <a:ext cx="411480" cy="41148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8" name="Text 16"/>
          <p:cNvSpPr/>
          <p:nvPr/>
        </p:nvSpPr>
        <p:spPr>
          <a:xfrm>
            <a:off x="5431536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34456" y="22128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31536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31536" y="31089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 + PR + creator wave + Search/YouTube takeover. Exit: 1M signups in 30 days.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98664" y="2011680"/>
            <a:ext cx="2167128" cy="3291840"/>
          </a:xfrm>
          <a:prstGeom prst="roundRect">
            <a:avLst>
              <a:gd name="adj" fmla="val 3376"/>
            </a:avLst>
          </a:prstGeom>
          <a:solidFill>
            <a:srgbClr val="F1F3F4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1544" y="2194560"/>
            <a:ext cx="411480" cy="411480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24" name="Text 22"/>
          <p:cNvSpPr/>
          <p:nvPr/>
        </p:nvSpPr>
        <p:spPr>
          <a:xfrm>
            <a:off x="7781544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84464" y="22128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81544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81544" y="31089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channels on; campus program for fall recruiting. Exit: CAC ≤ $2.50/signup.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48672" y="2011680"/>
            <a:ext cx="2167128" cy="3291840"/>
          </a:xfrm>
          <a:prstGeom prst="roundRect">
            <a:avLst>
              <a:gd name="adj" fmla="val 3376"/>
            </a:avLst>
          </a:prstGeom>
          <a:solidFill>
            <a:srgbClr val="F1F3F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31552" y="21945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0131552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634472" y="22128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131552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4–12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31552" y="31089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letters, interview prep, Google One bundle, 5 locales. Exit: ARR ≥ $12M.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ship cadence post-launch; kill criteria pre-agreed (conversion &lt;1.5% or D30 retention &lt;15% at month 6 → pause paid spend).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&amp; budget — $12M Year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surfaces are the moat; paid is the tuning dial, not the engine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600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— the moat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766560" y="19385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Job-search entry points, Gemini hand-offs, Docs gallery. ~60% of Year-1 signups at near-zero marginal cost.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766560" y="2743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+ creator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0" y="30815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“Google takes on resume paywalls” narrative; 50 career creators; quarterly job-trends data reports.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766560" y="3886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0" y="42245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High-intent search terms (where Zety wins today), YouTube pre-roll, Performance Max.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766560" y="5029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6560" y="53675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university career centers, workforce agencies, outplacement firms — reach Priya at the layoff moment.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Year-1 projections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model with live formulas in the companion Excel workbook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1F3F4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71907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35240" y="25786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signups · 55% activation · 3.0% free→paid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0" y="342900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1F3F4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35935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$12.7M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635240" y="44531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ARR ($6.5M Y1 revenue, 132K subscribers)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$67 blended in launch year ($2.00/signup) → ~$30 steady-state · LTV $97 · LTV:CAC 1.5x Y1 → 3.2x Y2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we're walking into with eyes open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AI-resume backlash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0" y="1417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Human-voice score as hero feature; recruiter validation study pre-launch; never market “AI writes it for you.”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4048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cliff when users get hired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0" y="2404872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Over-discounted annual · pause-when-hired · Year-2 expansion into always-on career profile.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39242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Scrutiny of Google entering another market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3392424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Radical free tier + ethical billing as the public narrative; resume data never used for ads.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37997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price cuts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4379976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 on ecosystem and trust, not price — we're already at 1/3 of theirs.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440680"/>
            <a:ext cx="10515600" cy="0"/>
          </a:xfrm>
          <a:prstGeom prst="line">
            <a:avLst/>
          </a:prstGeom>
          <a:noFill/>
          <a:ln w="12700">
            <a:solidFill>
              <a:srgbClr val="3C4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669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$12M and a launch window ahead of September hiring — to make Google the trusted default for 6M job seekers in year one.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2026-07-29T03:39:36Z</dcterms:created>
  <dcterms:modified xsi:type="dcterms:W3CDTF">2026-07-29T03:39:36Z</dcterms:modified>
</cp:coreProperties>
</file>